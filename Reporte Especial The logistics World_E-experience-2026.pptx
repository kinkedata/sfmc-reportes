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13716000" cx="24384000"/>
  <p:notesSz cx="6858000" cy="9144000"/>
  <p:embeddedFontLst>
    <p:embeddedFont>
      <p:font typeface="Helvetica Neue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aIGHeaUSlT4Gp7dS3Q4g2vYlZ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Italic.fntdata"/><Relationship Id="rId10" Type="http://schemas.openxmlformats.org/officeDocument/2006/relationships/font" Target="fonts/HelveticaNeue-italic.fntdata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68e2e07f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bc68e2e07f_0_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0a1ecb00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de0a1ecb00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0">
  <p:cSld name="Title Only 0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34251" y="597958"/>
            <a:ext cx="23515497" cy="792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b="0" sz="4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22892439" y="12757245"/>
            <a:ext cx="266974" cy="25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foto">
  <p:cSld name="Título y foto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5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foto alternativa">
  <p:cSld name="Título y foto alternativa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16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viñetas">
  <p:cSld name="Título y viñeta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ñetas">
  <p:cSld name="Viñeta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viñetas y foto">
  <p:cSld name="Título, viñetas y foto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1" name="Google Shape;41;p19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9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">
  <p:cSld name="Secció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título">
  <p:cSld name="Sólo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laración">
  <p:cSld name="Declaració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o (grande)">
  <p:cSld name="Dato (grande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ita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fotos">
  <p:cSld name="3 foto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6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">
    <p:bg>
      <p:bgPr>
        <a:solidFill>
          <a:srgbClr val="00346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1201340" y="11847162"/>
            <a:ext cx="21971004" cy="636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defRPr b="1" sz="3600">
                <a:solidFill>
                  <a:srgbClr val="FFFFFF"/>
                </a:solidFill>
              </a:defRPr>
            </a:lvl1pPr>
            <a:lvl2pPr indent="-509778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28"/>
              <a:buFont typeface="Helvetica Neue"/>
              <a:buChar char="•"/>
              <a:defRPr b="1" sz="3600">
                <a:solidFill>
                  <a:srgbClr val="FFFFFF"/>
                </a:solidFill>
              </a:defRPr>
            </a:lvl2pPr>
            <a:lvl3pPr indent="-509778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28"/>
              <a:buFont typeface="Helvetica Neue"/>
              <a:buChar char="•"/>
              <a:defRPr b="1" sz="3600">
                <a:solidFill>
                  <a:srgbClr val="FFFFFF"/>
                </a:solidFill>
              </a:defRPr>
            </a:lvl3pPr>
            <a:lvl4pPr indent="-509778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28"/>
              <a:buFont typeface="Helvetica Neue"/>
              <a:buChar char="•"/>
              <a:defRPr b="1" sz="3600">
                <a:solidFill>
                  <a:srgbClr val="FFFFFF"/>
                </a:solidFill>
              </a:defRPr>
            </a:lvl4pPr>
            <a:lvl5pPr indent="-509778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28"/>
              <a:buFont typeface="Helvetica Neue"/>
              <a:buChar char="•"/>
              <a:defRPr b="1" sz="3600">
                <a:solidFill>
                  <a:srgbClr val="FFFFFF"/>
                </a:solidFill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type="title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0"/>
              <a:buFont typeface="Helvetica Neue"/>
              <a:buNone/>
              <a:defRPr sz="116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2" type="body"/>
          </p:nvPr>
        </p:nvSpPr>
        <p:spPr>
          <a:xfrm>
            <a:off x="1201342" y="7210490"/>
            <a:ext cx="21971002" cy="190500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Helvetica Neue"/>
              <a:buNone/>
              <a:defRPr b="1" sz="5500">
                <a:solidFill>
                  <a:schemeClr val="accent1"/>
                </a:solidFill>
              </a:defRPr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4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c68e2e07f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42475"/>
            <a:ext cx="24384000" cy="1367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93;p1" id="85" name="Google Shape;85;g3bc68e2e07f_0_102"/>
          <p:cNvPicPr preferRelativeResize="0"/>
          <p:nvPr/>
        </p:nvPicPr>
        <p:blipFill rotWithShape="1">
          <a:blip r:embed="rId4">
            <a:alphaModFix/>
          </a:blip>
          <a:srcRect b="23940" l="2987" r="5031" t="15871"/>
          <a:stretch/>
        </p:blipFill>
        <p:spPr>
          <a:xfrm>
            <a:off x="1608902" y="8998234"/>
            <a:ext cx="6342766" cy="3207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6" name="Google Shape;86;g3bc68e2e07f_0_102"/>
          <p:cNvPicPr preferRelativeResize="0"/>
          <p:nvPr/>
        </p:nvPicPr>
        <p:blipFill rotWithShape="1">
          <a:blip r:embed="rId5">
            <a:alphaModFix/>
          </a:blip>
          <a:srcRect b="0" l="0" r="8858" t="0"/>
          <a:stretch/>
        </p:blipFill>
        <p:spPr>
          <a:xfrm>
            <a:off x="8798926" y="10704375"/>
            <a:ext cx="4137326" cy="13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bc68e2e07f_0_102"/>
          <p:cNvSpPr txBox="1"/>
          <p:nvPr/>
        </p:nvSpPr>
        <p:spPr>
          <a:xfrm>
            <a:off x="8798925" y="9378950"/>
            <a:ext cx="141000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1" lang="es-MX" sz="4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Reporte Especial The logistics World/E-experience-2026</a:t>
            </a:r>
            <a:endParaRPr b="1" i="0" sz="4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74;g328b4f8d0ca_4_1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78983" y="12952447"/>
            <a:ext cx="2478118" cy="4138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265776" y="192225"/>
            <a:ext cx="593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1" i="0" lang="es-MX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Mail - </a:t>
            </a:r>
            <a:r>
              <a:rPr b="1" lang="es-MX" sz="3500">
                <a:latin typeface="Helvetica Neue"/>
                <a:ea typeface="Helvetica Neue"/>
                <a:cs typeface="Helvetica Neue"/>
                <a:sym typeface="Helvetica Neue"/>
              </a:rPr>
              <a:t>The logistics World</a:t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546771" y="13000358"/>
            <a:ext cx="4002699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12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0" i="0" lang="es-MX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 1 de ENERO 2025 AL 31 DE ENERO,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591423" y="2955800"/>
            <a:ext cx="41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enviados: 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198050" y="2955800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1,082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591425" y="3862925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enviados correctamente (entregados): 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198050" y="3862925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1,050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591425" y="4770050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no entregados (inválidos o error): 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198050" y="4770050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591425" y="5677175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abiertos (Opens)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198050" y="5677175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870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591424" y="6612938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abiertos por usuarios únicos (Unique)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198049" y="6612938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558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3335375" y="2955800"/>
            <a:ext cx="92970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 —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870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vs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558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endParaRPr b="1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870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 (Total):</a:t>
            </a:r>
            <a:b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correo se abrió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870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veces en total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👉 Esto incluye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reaperturas del mismo usuario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Ejemplo: si una persona abre el correo 5 veces, cuenta como 5.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558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 Opens:</a:t>
            </a:r>
            <a:b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Son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558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personas distintas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abrieron el correo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menos una vez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👉 Cada suscriptor solo cuenta 1 vez aunque lo abra muchas veces.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📌 Interpretación: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558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personas abrieron el mail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esas mismas lo abrieron varias veces hasta sumar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870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aperturas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591424" y="7548713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NO abiertos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198049" y="7548713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492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591424" y="8484488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con clic “</a:t>
            </a:r>
            <a:r>
              <a:rPr b="1" lang="es-MX" sz="2400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telcel.com/empresas</a:t>
            </a: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198049" y="8484488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591424" y="9420275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Unsubscribes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198049" y="9420275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74;g328b4f8d0ca_4_1" id="116" name="Google Shape;116;g3de0a1ecb00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78983" y="12952447"/>
            <a:ext cx="2478116" cy="413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de0a1ecb00_0_1"/>
          <p:cNvSpPr txBox="1"/>
          <p:nvPr/>
        </p:nvSpPr>
        <p:spPr>
          <a:xfrm>
            <a:off x="265776" y="192225"/>
            <a:ext cx="593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1" i="0" lang="es-MX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Mail - </a:t>
            </a:r>
            <a:r>
              <a:rPr b="1" lang="es-MX" sz="3500">
                <a:latin typeface="Helvetica Neue"/>
                <a:ea typeface="Helvetica Neue"/>
                <a:cs typeface="Helvetica Neue"/>
                <a:sym typeface="Helvetica Neue"/>
              </a:rPr>
              <a:t>E-experience-2026</a:t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de0a1ecb00_0_1"/>
          <p:cNvSpPr txBox="1"/>
          <p:nvPr/>
        </p:nvSpPr>
        <p:spPr>
          <a:xfrm>
            <a:off x="546771" y="13000358"/>
            <a:ext cx="4002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12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0" i="0" lang="es-MX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 1 de ENERO 2025 AL 31 DE ENERO,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e0a1ecb00_0_1"/>
          <p:cNvSpPr txBox="1"/>
          <p:nvPr/>
        </p:nvSpPr>
        <p:spPr>
          <a:xfrm>
            <a:off x="1591423" y="2955800"/>
            <a:ext cx="41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enviados: 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g3de0a1ecb00_0_1"/>
          <p:cNvSpPr/>
          <p:nvPr/>
        </p:nvSpPr>
        <p:spPr>
          <a:xfrm>
            <a:off x="8198050" y="2955800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6,823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de0a1ecb00_0_1"/>
          <p:cNvSpPr txBox="1"/>
          <p:nvPr/>
        </p:nvSpPr>
        <p:spPr>
          <a:xfrm>
            <a:off x="1591425" y="3862925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enviados correctamente (entregados): 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3de0a1ecb00_0_1"/>
          <p:cNvSpPr/>
          <p:nvPr/>
        </p:nvSpPr>
        <p:spPr>
          <a:xfrm>
            <a:off x="8198050" y="3862925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6,649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3de0a1ecb00_0_1"/>
          <p:cNvSpPr txBox="1"/>
          <p:nvPr/>
        </p:nvSpPr>
        <p:spPr>
          <a:xfrm>
            <a:off x="1591425" y="4770050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no entregados (inválidos o error): 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g3de0a1ecb00_0_1"/>
          <p:cNvSpPr/>
          <p:nvPr/>
        </p:nvSpPr>
        <p:spPr>
          <a:xfrm>
            <a:off x="8198050" y="4770050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g3de0a1ecb00_0_1"/>
          <p:cNvSpPr txBox="1"/>
          <p:nvPr/>
        </p:nvSpPr>
        <p:spPr>
          <a:xfrm>
            <a:off x="1591425" y="5677175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abiertos (Opens)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g3de0a1ecb00_0_1"/>
          <p:cNvSpPr/>
          <p:nvPr/>
        </p:nvSpPr>
        <p:spPr>
          <a:xfrm>
            <a:off x="8198050" y="5677175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4,875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3de0a1ecb00_0_1"/>
          <p:cNvSpPr txBox="1"/>
          <p:nvPr/>
        </p:nvSpPr>
        <p:spPr>
          <a:xfrm>
            <a:off x="1591424" y="6612938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abiertos por usuarios únicos (Unique)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g3de0a1ecb00_0_1"/>
          <p:cNvSpPr/>
          <p:nvPr/>
        </p:nvSpPr>
        <p:spPr>
          <a:xfrm>
            <a:off x="8198049" y="6612938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3,257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de0a1ecb00_0_1"/>
          <p:cNvSpPr txBox="1"/>
          <p:nvPr/>
        </p:nvSpPr>
        <p:spPr>
          <a:xfrm>
            <a:off x="13335375" y="2955800"/>
            <a:ext cx="92970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 —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4,875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total vs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3,257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unique</a:t>
            </a:r>
            <a:endParaRPr b="1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4,875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 (Total):</a:t>
            </a:r>
            <a:b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correo se abrió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4875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veces en total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👉 Esto incluye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reaperturas del mismo usuario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Ejemplo: si una persona abre el correo 5 veces, cuenta como 5.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3,257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 Opens:</a:t>
            </a:r>
            <a:b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Son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3,257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personas distintas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abrieron el correo </a:t>
            </a:r>
            <a:r>
              <a:rPr b="1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menos una vez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👉 Cada suscriptor solo cuenta 1 vez aunque lo abra muchas veces.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📌 Interpretación: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3,257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personas abrieron el mail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esas mismas lo abrieron varias veces hasta sumar </a:t>
            </a:r>
            <a:r>
              <a:rPr b="1" lang="es-MX" sz="2000">
                <a:latin typeface="Helvetica Neue"/>
                <a:ea typeface="Helvetica Neue"/>
                <a:cs typeface="Helvetica Neue"/>
                <a:sym typeface="Helvetica Neue"/>
              </a:rPr>
              <a:t>4,875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aperturas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de0a1ecb00_0_1"/>
          <p:cNvSpPr txBox="1"/>
          <p:nvPr/>
        </p:nvSpPr>
        <p:spPr>
          <a:xfrm>
            <a:off x="1591424" y="7548713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NO abiertos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de0a1ecb00_0_1"/>
          <p:cNvSpPr/>
          <p:nvPr/>
        </p:nvSpPr>
        <p:spPr>
          <a:xfrm>
            <a:off x="8198049" y="7548713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3,492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de0a1ecb00_0_1"/>
          <p:cNvSpPr txBox="1"/>
          <p:nvPr/>
        </p:nvSpPr>
        <p:spPr>
          <a:xfrm>
            <a:off x="1591424" y="8484488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con clic “</a:t>
            </a:r>
            <a:r>
              <a:rPr b="1" lang="es-MX" sz="2400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telcel.com/empresas</a:t>
            </a: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de0a1ecb00_0_1"/>
          <p:cNvSpPr/>
          <p:nvPr/>
        </p:nvSpPr>
        <p:spPr>
          <a:xfrm>
            <a:off x="8198049" y="8484488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130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de0a1ecb00_0_1"/>
          <p:cNvSpPr txBox="1"/>
          <p:nvPr/>
        </p:nvSpPr>
        <p:spPr>
          <a:xfrm>
            <a:off x="1591424" y="9420275"/>
            <a:ext cx="66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243D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Unsubscribes</a:t>
            </a:r>
            <a:endParaRPr b="1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g3de0a1ecb00_0_1"/>
          <p:cNvSpPr/>
          <p:nvPr/>
        </p:nvSpPr>
        <p:spPr>
          <a:xfrm>
            <a:off x="8198049" y="9420275"/>
            <a:ext cx="2186400" cy="554100"/>
          </a:xfrm>
          <a:prstGeom prst="roundRect">
            <a:avLst>
              <a:gd fmla="val 16667" name="adj"/>
            </a:avLst>
          </a:prstGeom>
          <a:solidFill>
            <a:srgbClr val="243DBA"/>
          </a:solidFill>
          <a:ln cap="flat" cmpd="sng" w="9525">
            <a:solidFill>
              <a:srgbClr val="243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157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 Enrique Ramirez Sandoval</dc:creator>
</cp:coreProperties>
</file>